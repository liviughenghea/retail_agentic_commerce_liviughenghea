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2AD66-D1E0-E4C7-B3F0-EFC71C9BAA3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73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H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K9 Agent — DA Direkt Dog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B"/>
                </a:solidFill>
                <a:latin typeface="Calibri"/>
              </a:rPr>
              <a:t>AI-native Research, Quote &amp; Bind  ·  Zurich Agentic AI Hyper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84048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161288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Name of the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99032"/>
            <a:ext cx="38404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44752"/>
            <a:ext cx="3657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Retail_Agentic_Commerce_LiviuGhenghea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384048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1161288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Selected Use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99032"/>
            <a:ext cx="384048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36576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01 — Agentic Commerce for the Personal Agent 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749039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16128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Main Learning from Experience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99032"/>
            <a:ext cx="3749039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444752"/>
            <a:ext cx="35661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Building directly on the Anthropic API (no framework) kept the system transparent and fast. Agent-to-agent commerce is feasible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03120"/>
            <a:ext cx="11640312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21408"/>
            <a:ext cx="1149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Team Members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59152"/>
            <a:ext cx="11640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404872"/>
            <a:ext cx="11457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Liviu Ghenghea  ·  liviu.ghenghea@zurich.com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43200"/>
            <a:ext cx="11640312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2761488"/>
            <a:ext cx="1149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How your approach is solving the problem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99232"/>
            <a:ext cx="1164031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044952"/>
            <a:ext cx="11457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K9 Agent replaces the existing linear web funnel with a fully AI-native, conversational insurance journey. A Zurich-hosted AI agent (Claude Sonnet) understands natural language, calls 12 live DA Direkt APIs in real time, and guides customers from first question to bound policy — without a single form or dropdown. Built for agent-to-agent commerce: a personal AI can interact directly with the Zurich K9 Agent, enabling autonomous quote and bind. Addresses all 5 AS-IS pain points: relevance, understanding, engagement, transparency, purchase guidance.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5728716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3858768"/>
            <a:ext cx="55824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What the results of the prototype 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96512"/>
            <a:ext cx="5728716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142232"/>
            <a:ext cx="55458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Live prototype: https://k9agent.streamlit.app
• Full journey: breed lookup → live pricing → lead creation → bind
• 18/18 API smoke tests passing against DA Direkt beta
• Real leads created with valid reference numbers
• Handles natural language, follow-up questions, edge cases
• Cost per full journey: ~€0.05 (Sonnet + Haiku)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5916" y="3840480"/>
            <a:ext cx="5728716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59068" y="3858768"/>
            <a:ext cx="55824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What are the next steps for scaling your solution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5916" y="4096512"/>
            <a:ext cx="5728716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77356" y="4142232"/>
            <a:ext cx="55458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• MCP server: expose 12 tools — any personal agent can call the Zurich Agent directly
• Production APIs: swap beta URL → production, rotate API key
• Multi-channel: same agent core serves WhatsApp, web chat, voice
• Multi-product: cat insurance, liability, life with minimal changes
• Prompt caching: reduce Sonnet costs ~80% at scale
• Session persistence: Redis for conversation state across channels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Problem Approach &amp; Solution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B"/>
                </a:solidFill>
                <a:latin typeface="Calibri"/>
              </a:rPr>
              <a:t>Replacing the linear web funnel with an AI-native, agent-to-agent insurance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THE PROBLEM — 5 AS-IS PAIN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83464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207008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Relevance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44752"/>
            <a:ext cx="28346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490472"/>
            <a:ext cx="2651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Customers can't see how the product connects to their pet's specific needs. Answers don't match their actual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83464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3552" y="1207008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44752"/>
            <a:ext cx="28346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1490472"/>
            <a:ext cx="2651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Complex terminology, unclear plan differences, no breed/age guidance. Surgery vs full coverage not intuitive.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83464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2" y="1207008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Engagement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44752"/>
            <a:ext cx="28346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490472"/>
            <a:ext cx="2651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Customers can't visualise what claims look like in practice. Network coverage and real-life usage unclear.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188720"/>
            <a:ext cx="2834640" cy="2560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25712" y="1207008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Transparency + Drop-off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444752"/>
            <a:ext cx="2834640" cy="88696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1490472"/>
            <a:ext cx="2651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Premium logic opaque. Pre-existing conditions cause drop-offs. Application feels complex and error-prone.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4231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THE SOLUTION — HOW K9 AGENT SOLVES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697480"/>
            <a:ext cx="3749039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271576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AI-native conversation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53512"/>
            <a:ext cx="37490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999232"/>
            <a:ext cx="3566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Natural language replaces forms. Claude understands 'my 2-year-old Golden Retriever named Luna' in one message. No forms, no dropdowns.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19" y="2697480"/>
            <a:ext cx="3749039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33671" y="271576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pricing + transparency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19" y="2953512"/>
            <a:ext cx="37490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51959" y="2999232"/>
            <a:ext cx="3566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Real-time prices across all 6 plans from DA Direkt APIs. Explains GOT factors, deductibles, exclusions and waiting periods in plain language.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8" y="2697480"/>
            <a:ext cx="3749039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19870" y="271576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Agent-to-agent commerce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8" y="2953512"/>
            <a:ext cx="3749039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38158" y="2999232"/>
            <a:ext cx="35661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Personal AI agents can call the Zurich K9 Agent directly via tool-use protocol. Autonomous quote and bind — no human in the loop.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794760"/>
            <a:ext cx="11640312" cy="201168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356616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ARCHITECTURE IN ONE 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13048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Customer Agent (Haiku — fast, cheap)  →  natural language  →  Zurich K9 Agent (Sonnet — reasoning + 12 tools)  →  REST calls  →  DA Direkt Petolo APIs (live breeds / pricing / leads / bind)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160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JOURNEY FLOW (non-linear)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389120"/>
            <a:ext cx="1920240" cy="2743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  RESEARCH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663440"/>
            <a:ext cx="1920240" cy="594360"/>
          </a:xfrm>
          <a:prstGeom prst="rect">
            <a:avLst/>
          </a:prstGeom>
          <a:solidFill>
            <a:srgbClr val="E8F0FB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Customer asks about
plans &amp; coverage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9424" y="4389120"/>
            <a:ext cx="1920240" cy="2743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49424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  QUOTE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49424" y="4663440"/>
            <a:ext cx="1920240" cy="594360"/>
          </a:xfrm>
          <a:prstGeom prst="rect">
            <a:avLst/>
          </a:prstGeom>
          <a:solidFill>
            <a:srgbClr val="E8F0FB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295144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Live prices fetched
across all 6 plans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4389120"/>
            <a:ext cx="1920240" cy="2743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24528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  COLLECT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4663440"/>
            <a:ext cx="1920240" cy="594360"/>
          </a:xfrm>
          <a:prstGeom prst="rect">
            <a:avLst/>
          </a:prstGeom>
          <a:solidFill>
            <a:srgbClr val="E8F0FB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70248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Owner + dog details
+ IBAN gathered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9632" y="4389120"/>
            <a:ext cx="1920240" cy="2743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99632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  VALIDATE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9632" y="4663440"/>
            <a:ext cx="1920240" cy="594360"/>
          </a:xfrm>
          <a:prstGeom prst="rect">
            <a:avLst/>
          </a:prstGeom>
          <a:solidFill>
            <a:srgbClr val="E8F0FB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5352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check_missing_fields
verifies readiness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74736" y="4389120"/>
            <a:ext cx="1920240" cy="27432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74736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  CONFIRM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74736" y="4663440"/>
            <a:ext cx="1920240" cy="594360"/>
          </a:xfrm>
          <a:prstGeom prst="rect">
            <a:avLst/>
          </a:prstGeom>
          <a:solidFill>
            <a:srgbClr val="E8F0FB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Summary shown,
explicit consent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49840" y="4389120"/>
            <a:ext cx="1920240" cy="274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49840" y="44256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6  BIND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4663440"/>
            <a:ext cx="1920240" cy="594360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95560" y="4700016"/>
            <a:ext cx="18288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33333"/>
                </a:solidFill>
                <a:latin typeface="Calibri"/>
              </a:rPr>
              <a:t>Application submitted
to DA Direkt 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Results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B"/>
                </a:solidFill>
                <a:latin typeface="Calibri"/>
              </a:rPr>
              <a:t>Working prototype validated against live DA Direkt beta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KEY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2194560" cy="9144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207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18/18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581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API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64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F0FB"/>
                </a:solidFill>
                <a:latin typeface="Calibri"/>
              </a:rPr>
              <a:t>All smoke tests passing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170432"/>
            <a:ext cx="2194560" cy="9144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207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581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764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F0FB"/>
                </a:solidFill>
                <a:latin typeface="Calibri"/>
              </a:rPr>
              <a:t>Live DA Direkt API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170432"/>
            <a:ext cx="2194560" cy="91440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207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581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Plans Quoted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764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F0FB"/>
                </a:solidFill>
                <a:latin typeface="Calibri"/>
              </a:rPr>
              <a:t>Real-time pricing all tiers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170432"/>
            <a:ext cx="2194560" cy="914400"/>
          </a:xfrm>
          <a:prstGeom prst="rect">
            <a:avLst/>
          </a:prstGeom>
          <a:solidFill>
            <a:srgbClr val="E0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0" y="1207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~€0.05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581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Cost/Journey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64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F0FB"/>
                </a:solidFill>
                <a:latin typeface="Calibri"/>
              </a:rPr>
              <a:t>Sonnet + Haiku combined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1170432"/>
            <a:ext cx="2194560" cy="9144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2070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5819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Conversational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7647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8F0FB"/>
                </a:solidFill>
                <a:latin typeface="Calibri"/>
              </a:rPr>
              <a:t>No forms, no dropdowns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24028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KEY INSIGHTS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87168"/>
            <a:ext cx="3840480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2505456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Full journey end-to-end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43200"/>
            <a:ext cx="3840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2788920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From first message to insurance application submission — live leads created in DA Direkt's beta system with real reference numbers. Deployed at https://k9agent.streamlit.app. Handles natural language, follow-ups, and edge cases without breaking.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487168"/>
            <a:ext cx="3840480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25112" y="2505456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Genuine AI understanding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2743200"/>
            <a:ext cx="3840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43400" y="2788920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Agent understands natural language without rigid step sequences. Handles breed ambiguity, follow-up questions, and unexpected inputs. The conversation adapts to the customer — not the other way around.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487168"/>
            <a:ext cx="3840480" cy="25603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02752" y="2505456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Agent-to-agent ready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743200"/>
            <a:ext cx="3840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2788920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Architecture designed so any MCP-compatible personal agent can discover and call the Zurich K9 Agent tools directly. No UI required — pure agent-to-agent API interaction with no human in the loop.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65760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AS-IS vs TO-BE COMPARISON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274320" y="3913632"/>
          <a:ext cx="11795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AS-IS (Today)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K9 Agent (TO-BE)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Customer effort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Navigate 5-step web form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Single conversation, any device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Coverage clarity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PDF documents, buried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Plain-language explanation on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Pricing transparency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Calculator with fixed inputs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Live prices across all plans, scenario-based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Pre-existing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Drop-off, unclear guidance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Proactive FAQ, guided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Agent-to-agent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333333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Native — personal agents can call directly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A90D9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B"/>
                </a:solidFill>
                <a:latin typeface="Calibri"/>
              </a:rPr>
              <a:t>From hackathon prototype to enterprise-grade agentic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91440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70432"/>
            <a:ext cx="822960" cy="21945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1627632"/>
            <a:ext cx="786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NOW
0–1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170432"/>
            <a:ext cx="2926079" cy="32004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216152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Production Readiness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1490472"/>
            <a:ext cx="2926079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5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1554480"/>
            <a:ext cx="2788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• Swap beta URL → production Petolo API
• Rotate API key to production credential
• Add Redis for session state persistence
• Implement customer identity verification
• Subscribe to policy issuance webhooks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19" y="1170432"/>
            <a:ext cx="822960" cy="219456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78807" y="1627632"/>
            <a:ext cx="786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NEXT
1–3 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79" y="1170432"/>
            <a:ext cx="2926079" cy="320040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199" y="1216152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Scale &amp; Multi-channel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79" y="1490472"/>
            <a:ext cx="2926079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003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199" y="1554480"/>
            <a:ext cx="2788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• Expose tools as MCP server — any personal agent can discover and call
• Add WhatsApp / voice channel wrappers
• Extend to cat insurance and liability products
• Enable prompt caching (80% cost reduction at scale)
• Add conversation analytics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8" y="1170432"/>
            <a:ext cx="822960" cy="21945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65006" y="1627632"/>
            <a:ext cx="78638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FUTURE
3–12 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78" y="1170432"/>
            <a:ext cx="2926079" cy="320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5398" y="1216152"/>
            <a:ext cx="2834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Enterprise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78" y="1490472"/>
            <a:ext cx="2926079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15398" y="1554480"/>
            <a:ext cx="27889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• Open MCP server to approved personal agent platforms
• B2B: white-label the Zurich Agent for broker networks
• Cross-sell signals: agent detects life events, triggers relevant products
• Claims co-pilot: extend same architecture to claims journey
• Group rollout: replicate for other DA Direkt / Zurich markets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52044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57B8"/>
                </a:solidFill>
                <a:latin typeface="Calibri"/>
              </a:rPr>
              <a:t>COST MODEL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274320" y="3776472"/>
          <a:ext cx="11887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Cost per journey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At 10k journeys/mo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With prompt caching</a:t>
                      </a:r>
                    </a:p>
                  </a:txBody>
                  <a:tcPr>
                    <a:solidFill>
                      <a:srgbClr val="003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Zurich Agent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claude-sonnet-4-6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~€0.05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~€500/mo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~€100/mo</a:t>
                      </a:r>
                    </a:p>
                  </a:txBody>
                  <a:tcPr>
                    <a:solidFill>
                      <a:srgbClr val="E8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Customer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claude-haiku-4-5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~€30/mo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333333"/>
                          </a:solidFill>
                          <a:latin typeface="Calibri"/>
                        </a:rPr>
                        <a:t>~€6/mo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~€0.05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~€530/mo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7A4A"/>
                          </a:solidFill>
                          <a:latin typeface="Calibri"/>
                        </a:rPr>
                        <a:t>~€106/mo</a:t>
                      </a:r>
                    </a:p>
                  </a:txBody>
                  <a:tcPr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274320" y="4709160"/>
            <a:ext cx="11640312" cy="749808"/>
          </a:xfrm>
          <a:prstGeom prst="rect">
            <a:avLst/>
          </a:prstGeom>
          <a:solidFill>
            <a:srgbClr val="003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78231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Vision:  The K9 Agent architecture is the blueprint for Zurich's agentic distribution layer. The same pattern — Zurich Agent + tool layer + product APIs — can power any insurance product, any channel, and any personal agent platform that adopts MCP.  Built once, distributed everywhere.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1190</Words>
  <Application>Microsoft Macintosh PowerPoint</Application>
  <PresentationFormat>Custom</PresentationFormat>
  <Paragraphs>130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Liviu Ghenghea</cp:lastModifiedBy>
  <cp:revision>2</cp:revision>
  <dcterms:created xsi:type="dcterms:W3CDTF">2013-01-27T09:14:16Z</dcterms:created>
  <dcterms:modified xsi:type="dcterms:W3CDTF">2026-06-23T13:19:36Z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08d454-5c13-4905-93be-12ec8059c842_Enabled">
    <vt:lpwstr>true</vt:lpwstr>
  </property>
  <property fmtid="{D5CDD505-2E9C-101B-9397-08002B2CF9AE}" pid="3" name="MSIP_Label_9108d454-5c13-4905-93be-12ec8059c842_SetDate">
    <vt:lpwstr>2026-06-23T13:12:59Z</vt:lpwstr>
  </property>
  <property fmtid="{D5CDD505-2E9C-101B-9397-08002B2CF9AE}" pid="4" name="MSIP_Label_9108d454-5c13-4905-93be-12ec8059c842_Method">
    <vt:lpwstr>Privileged</vt:lpwstr>
  </property>
  <property fmtid="{D5CDD505-2E9C-101B-9397-08002B2CF9AE}" pid="5" name="MSIP_Label_9108d454-5c13-4905-93be-12ec8059c842_Name">
    <vt:lpwstr>9108d454-5c13-4905-93be-12ec8059c842</vt:lpwstr>
  </property>
  <property fmtid="{D5CDD505-2E9C-101B-9397-08002B2CF9AE}" pid="6" name="MSIP_Label_9108d454-5c13-4905-93be-12ec8059c842_SiteId">
    <vt:lpwstr>473672ba-cd07-4371-a2ae-788b4c61840e</vt:lpwstr>
  </property>
  <property fmtid="{D5CDD505-2E9C-101B-9397-08002B2CF9AE}" pid="7" name="MSIP_Label_9108d454-5c13-4905-93be-12ec8059c842_ActionId">
    <vt:lpwstr>893ef47d-56c8-4996-9c49-ee1bd642dbfa</vt:lpwstr>
  </property>
  <property fmtid="{D5CDD505-2E9C-101B-9397-08002B2CF9AE}" pid="8" name="MSIP_Label_9108d454-5c13-4905-93be-12ec8059c842_ContentBits">
    <vt:lpwstr>2</vt:lpwstr>
  </property>
  <property fmtid="{D5CDD505-2E9C-101B-9397-08002B2CF9AE}" pid="9" name="MSIP_Label_9108d454-5c13-4905-93be-12ec8059c842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USE ONLY</vt:lpwstr>
  </property>
</Properties>
</file>